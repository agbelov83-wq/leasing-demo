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4"/>
    <p:restoredTop sz="94610"/>
  </p:normalViewPr>
  <p:slideViewPr>
    <p:cSldViewPr snapToGrid="0" snapToObjects="1">
      <p:cViewPr varScale="1">
        <p:scale>
          <a:sx n="186" d="100"/>
          <a:sy n="186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70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11480"/>
            <a:ext cx="21945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ТРЕБУЕТ ВНИМАНИЯ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 управления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инцидентами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Как системные сбои интеграции IIKO угрожают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</a:rPr>
              <a:t>запуску 140 киосков и репутации бизнеса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SYNAPP  ·  Апрель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66560" y="457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2 500+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766560" y="1051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сбоев интеграции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за 1,5 месяца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27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ресторанов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под угрозой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140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766560" y="4069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киосков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к запуску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Участники экосистемы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645920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IM (Рестораны)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1371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37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27 точек по Казахстану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Клиент &amp; Оператор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91440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8840" y="914400"/>
            <a:ext cx="1645920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143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IIKO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691640"/>
            <a:ext cx="1371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737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Кассовая система (РФ)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Устаревшая архитектура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91440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0" y="914400"/>
            <a:ext cx="1645920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143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Кафе Софт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60520" y="1691640"/>
            <a:ext cx="1371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737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Партнёр IIKO (KZ)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1-я линия интеграции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97880" y="91440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914400"/>
            <a:ext cx="164592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5897880" y="1143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ККС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1691640"/>
            <a:ext cx="1371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737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1-я линия поддержки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(сторонняя орг.)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914400"/>
            <a:ext cx="1645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0" y="914400"/>
            <a:ext cx="16459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1143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SYNAPP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09560" y="1691640"/>
            <a:ext cx="1371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73736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Разработчик МП 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Киосков самообслуживания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20240" y="2514600"/>
            <a:ext cx="502920" cy="0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2514600"/>
            <a:ext cx="502920" cy="0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2514600"/>
            <a:ext cx="502920" cy="0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514600"/>
            <a:ext cx="502920" cy="0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9768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976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</a:rPr>
              <a:t>⚠  Отсутствие чёткого разграничения зон ответственности приводит к хаосу при инцидентах — каждый участник «перекидывает» проблему другому.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Корневые проблемы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B2D"/>
                </a:solidFill>
              </a:rPr>
              <a:t>Устаревшая архитектура IIKO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184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Кассовая система регулярно разрывает интеграцию с киосками и МП. После перезагрузки ключевые модули IIKO не поднимаются — ККС не проверяет это.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05156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1051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B2D"/>
                </a:solidFill>
              </a:rPr>
              <a:t>Отсутствие Incident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6184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Инциденты не фиксируются и не переводятся в проблемы. Одни и те же сбои </a:t>
            </a:r>
            <a:r>
              <a:rPr lang="en-US" sz="950" dirty="0" err="1">
                <a:solidFill>
                  <a:srgbClr val="64748B"/>
                </a:solidFill>
              </a:rPr>
              <a:t>повторяются</a:t>
            </a:r>
            <a:r>
              <a:rPr lang="en-US" sz="950" dirty="0">
                <a:solidFill>
                  <a:srgbClr val="64748B"/>
                </a:solidFill>
              </a:rPr>
              <a:t> </a:t>
            </a:r>
            <a:r>
              <a:rPr lang="en-US" sz="950" dirty="0" err="1">
                <a:solidFill>
                  <a:srgbClr val="64748B"/>
                </a:solidFill>
              </a:rPr>
              <a:t>кажды</a:t>
            </a:r>
            <a:r>
              <a:rPr lang="ru-RU" sz="950" dirty="0">
                <a:solidFill>
                  <a:srgbClr val="64748B"/>
                </a:solidFill>
              </a:rPr>
              <a:t>й</a:t>
            </a:r>
            <a:r>
              <a:rPr lang="en-US" sz="950" dirty="0">
                <a:solidFill>
                  <a:srgbClr val="64748B"/>
                </a:solidFill>
              </a:rPr>
              <a:t> </a:t>
            </a:r>
            <a:r>
              <a:rPr lang="en-US" sz="950" dirty="0" err="1">
                <a:solidFill>
                  <a:srgbClr val="64748B"/>
                </a:solidFill>
              </a:rPr>
              <a:t>месяце</a:t>
            </a:r>
            <a:r>
              <a:rPr lang="en-US" sz="950" dirty="0">
                <a:solidFill>
                  <a:srgbClr val="64748B"/>
                </a:solidFill>
              </a:rPr>
              <a:t> без расследования корневых причин.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6012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05156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051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B2D"/>
                </a:solidFill>
              </a:rPr>
              <a:t>Перегрузка SYNAPP чужими задачами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61848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Мы получаем обращения по инцидентам, не связанным с нашим ПО. Рестораны </a:t>
            </a:r>
            <a:r>
              <a:rPr lang="en-US" sz="950" dirty="0" err="1">
                <a:solidFill>
                  <a:srgbClr val="64748B"/>
                </a:solidFill>
              </a:rPr>
              <a:t>пишут</a:t>
            </a:r>
            <a:r>
              <a:rPr lang="en-US" sz="950" dirty="0">
                <a:solidFill>
                  <a:srgbClr val="64748B"/>
                </a:solidFill>
              </a:rPr>
              <a:t> </a:t>
            </a:r>
            <a:r>
              <a:rPr lang="ru-RU" sz="950" dirty="0">
                <a:solidFill>
                  <a:srgbClr val="64748B"/>
                </a:solidFill>
              </a:rPr>
              <a:t>во все каналы </a:t>
            </a:r>
            <a:r>
              <a:rPr lang="en-US" sz="950" dirty="0" err="1">
                <a:solidFill>
                  <a:srgbClr val="64748B"/>
                </a:solidFill>
              </a:rPr>
              <a:t>одновременно</a:t>
            </a:r>
            <a:r>
              <a:rPr lang="en-US" sz="950" dirty="0">
                <a:solidFill>
                  <a:srgbClr val="64748B"/>
                </a:solidFill>
              </a:rPr>
              <a:t> — без маршрутизации.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7180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0632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B2D"/>
                </a:solidFill>
              </a:rPr>
              <a:t>Непрозрачность Кафе Софт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301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Ссылаются на «глобальные проблемы шины», но при разборе конкретных инцидентов — причина неизвестна. 2 500 сбоев за 1,5 месяца без объяснений.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97180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1840" y="30632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4904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B2D"/>
                </a:solidFill>
              </a:rPr>
              <a:t>Нарушение инструкций персоналом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56616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6301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Сотрудники ресторанов не соблюдают регламенты ИТ-специалистов IM, что создаёт дополнительные инциденты не-технического характера.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97180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30632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75120" y="3063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B2D"/>
                </a:solidFill>
              </a:rPr>
              <a:t>Малый штат ИТ IM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356616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63016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3 специалиста перегружены и не имеют глубоких знаний внутренностей IIKO — не могут определить корневую причину инцидента самостоятельно.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Масштаб проблемы — цифры говорят сами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560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</a:rPr>
              <a:t>2 500+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Сбоев интеграции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за 1,5 месяца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6459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Без известной причины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011680" cy="2560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60120"/>
            <a:ext cx="20116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7899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7E22"/>
                </a:solidFill>
              </a:rPr>
              <a:t>6–7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Месяцев цикл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повторения инцидента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651760"/>
            <a:ext cx="16459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Без Root Cause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2011680" cy="2560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601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7899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</a:rPr>
              <a:t>27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Ресторанов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уже страдают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16459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Плохие отзывы, потери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960120"/>
            <a:ext cx="2011680" cy="2560320"/>
          </a:xfrm>
          <a:prstGeom prst="rect">
            <a:avLst/>
          </a:prstGeom>
          <a:solidFill>
            <a:srgbClr val="1A2E4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960120"/>
            <a:ext cx="201168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07899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5FA8"/>
                </a:solidFill>
              </a:rPr>
              <a:t>140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858000" y="1920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Киосков 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запуску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2651760"/>
            <a:ext cx="16459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Под угрозой срыва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67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КРИТИЧЕСКИЙ РИСК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17880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Некорректная работа IIKO при запуске 140 киосков приведёт к массовому простою ресторанов,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потере выручки и репутационному ущербу в масштабах всего Казахстана.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Как происходит сейчас — цепочка хаоса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3258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0515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</a:rPr>
              <a:t>Сбой IIKO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1143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488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Интеграция разрывается.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Модули не поднимаются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54480" y="2240280"/>
            <a:ext cx="13716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96012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91640" y="960120"/>
            <a:ext cx="13258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2130552" y="10515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213055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</a:rPr>
              <a:t>Ресторан замечает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83080" y="2103120"/>
            <a:ext cx="1143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21488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Пишет ВЕЗДЕ: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МП, Киоск, SYNAPP, ИТ IM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17520" y="2240280"/>
            <a:ext cx="13716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96012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960120"/>
            <a:ext cx="132588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593592" y="10515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</a:rPr>
              <a:t>ККС перезагружает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103120"/>
            <a:ext cx="1143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1488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Без проверки компонентов IIKO.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Киоск недоступен снова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2240280"/>
            <a:ext cx="13716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96012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960120"/>
            <a:ext cx="132588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56632" y="1051560"/>
            <a:ext cx="457200" cy="457200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31" name="Text 29"/>
          <p:cNvSpPr/>
          <p:nvPr/>
        </p:nvSpPr>
        <p:spPr>
          <a:xfrm>
            <a:off x="505663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6344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</a:rPr>
              <a:t>SYNAPP получает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103120"/>
            <a:ext cx="1143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488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Инциденты не по нашей зоне.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Ресурсы отвлекаются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2240280"/>
            <a:ext cx="13716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96012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960120"/>
            <a:ext cx="13258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8" name="Shape 36"/>
          <p:cNvSpPr/>
          <p:nvPr/>
        </p:nvSpPr>
        <p:spPr>
          <a:xfrm>
            <a:off x="6519672" y="105156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651967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2648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</a:rPr>
              <a:t>Кафе Софт молчит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72200" y="2103120"/>
            <a:ext cx="1143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1488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«Шина работала».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Причина неизвестна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06640" y="2240280"/>
            <a:ext cx="13716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960120"/>
            <a:ext cx="1325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43800" y="960120"/>
            <a:ext cx="13258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Shape 44"/>
          <p:cNvSpPr/>
          <p:nvPr/>
        </p:nvSpPr>
        <p:spPr>
          <a:xfrm>
            <a:off x="7982712" y="10515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798271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89520" y="1600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</a:rPr>
              <a:t>Клиент страдает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35240" y="2103120"/>
            <a:ext cx="1143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2148840"/>
            <a:ext cx="1234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Ошибки, демотивация,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плохие отзывы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3794760"/>
            <a:ext cx="8686800" cy="594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2" name="Shape 50"/>
          <p:cNvSpPr/>
          <p:nvPr/>
        </p:nvSpPr>
        <p:spPr>
          <a:xfrm>
            <a:off x="228600" y="379476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3794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</a:rPr>
              <a:t>Итог: нет единой точки координации → инцидент живёт неделями → одни и те же сбои повторяются </a:t>
            </a:r>
            <a:r>
              <a:rPr lang="en-US" sz="1100" dirty="0" err="1">
                <a:solidFill>
                  <a:srgbClr val="78350F"/>
                </a:solidFill>
              </a:rPr>
              <a:t>снова</a:t>
            </a:r>
            <a:r>
              <a:rPr lang="en-US" sz="1100" dirty="0">
                <a:solidFill>
                  <a:srgbClr val="78350F"/>
                </a:solidFill>
              </a:rPr>
              <a:t> </a:t>
            </a:r>
            <a:r>
              <a:rPr lang="ru-RU" sz="1100" dirty="0">
                <a:solidFill>
                  <a:srgbClr val="78350F"/>
                </a:solidFill>
              </a:rPr>
              <a:t>каждый месяц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Что необходимо сделать — план действий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920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87552"/>
            <a:ext cx="685800" cy="34747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Шаг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Созвать совещание всех сторон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44752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FA8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IM + SYNAPP + ККС + Кафе Софт + IIKO (опционально)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FA8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Разграничить зоны ответственности письменно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13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FA8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Подписать регламент инцидент-менеджмента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1920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87552"/>
            <a:ext cx="685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Шаг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10058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Внедрить Incident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444752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087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Единый журнал инцидентов (ежедневное фиксирование)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110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Каждый инцидент закрывается с указанием Root Cause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313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Еженедельные отчёты по открытым/закрытым кейсам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4206240" cy="1920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34640"/>
            <a:ext cx="4206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2907792"/>
            <a:ext cx="68580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90779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Шаг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2926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Процедура эскалации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364992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ККС: перед перезагрузкой — чеклист проверки компонентов IIKO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Рестораны: единый канал обращения, не спам во все стороны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SYNAPP получает только релевантные инциденты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834640"/>
            <a:ext cx="4206240" cy="1920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834640"/>
            <a:ext cx="42062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Shape 31"/>
          <p:cNvSpPr/>
          <p:nvPr/>
        </p:nvSpPr>
        <p:spPr>
          <a:xfrm>
            <a:off x="4663440" y="2907792"/>
            <a:ext cx="6858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90779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Шаг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29260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Подготовка к запуску 140 киосков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3364992"/>
            <a:ext cx="3931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392423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▸  </a:t>
            </a:r>
            <a:r>
              <a:rPr lang="en-US" sz="1000" dirty="0">
                <a:solidFill>
                  <a:srgbClr val="64748B"/>
                </a:solidFill>
              </a:rPr>
              <a:t>Дежурный технический контакт от каждой стороны</a:t>
            </a:r>
            <a:endParaRPr lang="en-US" sz="1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8B4E857E-5517-69C3-CB7A-91F4347017A5}"/>
              </a:ext>
            </a:extLst>
          </p:cNvPr>
          <p:cNvSpPr/>
          <p:nvPr/>
        </p:nvSpPr>
        <p:spPr>
          <a:xfrm>
            <a:off x="4846320" y="3662173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▸  </a:t>
            </a:r>
            <a:r>
              <a:rPr lang="ru-RU" sz="1000" dirty="0">
                <a:solidFill>
                  <a:srgbClr val="64748B"/>
                </a:solidFill>
              </a:rPr>
              <a:t>План запуска в каждом ресторане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Матрица ответственности (RACI)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20040" cy="3200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Responsible — Исполнитель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Accountable — Владелец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32004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Consulted — Консультант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868680"/>
            <a:ext cx="32004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8660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Informed — Уведомляется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298448"/>
            <a:ext cx="292608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Процесс / Функция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298448"/>
            <a:ext cx="82296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298448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 ИТ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23360" y="1298448"/>
            <a:ext cx="82296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0" y="1298448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ККС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298448"/>
            <a:ext cx="100584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Кафе Софт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298448"/>
            <a:ext cx="100584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SYNAPP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0" y="1298448"/>
            <a:ext cx="1097280" cy="347472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298448"/>
            <a:ext cx="10972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Рестораны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1645920"/>
            <a:ext cx="29260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1645920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Первичное обращение об инциденте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1645920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0" y="1682496"/>
            <a:ext cx="274320" cy="2560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1645920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7680" y="1682496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1645920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1682496"/>
            <a:ext cx="274320" cy="2560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1645920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0" y="1682496"/>
            <a:ext cx="274320" cy="2560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0" y="1645920"/>
            <a:ext cx="10972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7269480" y="1682496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4" name="Text 42"/>
          <p:cNvSpPr/>
          <p:nvPr/>
        </p:nvSpPr>
        <p:spPr>
          <a:xfrm>
            <a:off x="7269480" y="16824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1993392"/>
            <a:ext cx="29260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1993392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Диагностика компонентов IIKO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0" y="1993392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0" y="2029968"/>
            <a:ext cx="274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9" name="Text 47"/>
          <p:cNvSpPr/>
          <p:nvPr/>
        </p:nvSpPr>
        <p:spPr>
          <a:xfrm>
            <a:off x="347472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23360" y="1993392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4297680" y="2029968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2" name="Text 50"/>
          <p:cNvSpPr/>
          <p:nvPr/>
        </p:nvSpPr>
        <p:spPr>
          <a:xfrm>
            <a:off x="429768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1993392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Shape 52"/>
          <p:cNvSpPr/>
          <p:nvPr/>
        </p:nvSpPr>
        <p:spPr>
          <a:xfrm>
            <a:off x="5212080" y="2029968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521208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52160" y="1993392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Shape 55"/>
          <p:cNvSpPr/>
          <p:nvPr/>
        </p:nvSpPr>
        <p:spPr>
          <a:xfrm>
            <a:off x="6217920" y="2029968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8" name="Text 56"/>
          <p:cNvSpPr/>
          <p:nvPr/>
        </p:nvSpPr>
        <p:spPr>
          <a:xfrm>
            <a:off x="621792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58000" y="1993392"/>
            <a:ext cx="10972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9480" y="2029968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1" name="Text 59"/>
          <p:cNvSpPr/>
          <p:nvPr/>
        </p:nvSpPr>
        <p:spPr>
          <a:xfrm>
            <a:off x="726948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2340864"/>
            <a:ext cx="29260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47472" y="2340864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Перезагрузка / восстановление сервисов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0" y="2340864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3474720" y="2377440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6" name="Text 64"/>
          <p:cNvSpPr/>
          <p:nvPr/>
        </p:nvSpPr>
        <p:spPr>
          <a:xfrm>
            <a:off x="3474720" y="2377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023360" y="2340864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4297680" y="2377440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9" name="Text 67"/>
          <p:cNvSpPr/>
          <p:nvPr/>
        </p:nvSpPr>
        <p:spPr>
          <a:xfrm>
            <a:off x="4297680" y="2377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46320" y="2340864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5212080" y="2377440"/>
            <a:ext cx="274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0" y="2377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52160" y="2340864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6217920" y="2377440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6217920" y="2377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58000" y="2340864"/>
            <a:ext cx="10972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7269480" y="2377440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8" name="Text 76"/>
          <p:cNvSpPr/>
          <p:nvPr/>
        </p:nvSpPr>
        <p:spPr>
          <a:xfrm>
            <a:off x="7269480" y="23774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2688336"/>
            <a:ext cx="29260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347472" y="2688336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Расследование Root Cause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00400" y="2688336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2" name="Shape 80"/>
          <p:cNvSpPr/>
          <p:nvPr/>
        </p:nvSpPr>
        <p:spPr>
          <a:xfrm>
            <a:off x="3474720" y="2724912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3" name="Text 81"/>
          <p:cNvSpPr/>
          <p:nvPr/>
        </p:nvSpPr>
        <p:spPr>
          <a:xfrm>
            <a:off x="3474720" y="27249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023360" y="2688336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5" name="Shape 83"/>
          <p:cNvSpPr/>
          <p:nvPr/>
        </p:nvSpPr>
        <p:spPr>
          <a:xfrm>
            <a:off x="4297680" y="2724912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86" name="Text 84"/>
          <p:cNvSpPr/>
          <p:nvPr/>
        </p:nvSpPr>
        <p:spPr>
          <a:xfrm>
            <a:off x="4297680" y="27249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846320" y="2688336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8" name="Shape 86"/>
          <p:cNvSpPr/>
          <p:nvPr/>
        </p:nvSpPr>
        <p:spPr>
          <a:xfrm>
            <a:off x="5212080" y="2724912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89" name="Text 87"/>
          <p:cNvSpPr/>
          <p:nvPr/>
        </p:nvSpPr>
        <p:spPr>
          <a:xfrm>
            <a:off x="5212080" y="27249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852160" y="2688336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1" name="Shape 89"/>
          <p:cNvSpPr/>
          <p:nvPr/>
        </p:nvSpPr>
        <p:spPr>
          <a:xfrm>
            <a:off x="6217920" y="2724912"/>
            <a:ext cx="274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2" name="Text 90"/>
          <p:cNvSpPr/>
          <p:nvPr/>
        </p:nvSpPr>
        <p:spPr>
          <a:xfrm>
            <a:off x="6217920" y="27249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858000" y="2688336"/>
            <a:ext cx="10972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4" name="Shape 92"/>
          <p:cNvSpPr/>
          <p:nvPr/>
        </p:nvSpPr>
        <p:spPr>
          <a:xfrm>
            <a:off x="7269480" y="2724912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5" name="Text 93"/>
          <p:cNvSpPr/>
          <p:nvPr/>
        </p:nvSpPr>
        <p:spPr>
          <a:xfrm>
            <a:off x="7269480" y="27249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74320" y="3035808"/>
            <a:ext cx="29260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347472" y="3035808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Инциденты с МП / Киосками (SYNAPP)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200400" y="3035808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97"/>
          <p:cNvSpPr/>
          <p:nvPr/>
        </p:nvSpPr>
        <p:spPr>
          <a:xfrm>
            <a:off x="3474720" y="3072384"/>
            <a:ext cx="274320" cy="2560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0" name="Text 98"/>
          <p:cNvSpPr/>
          <p:nvPr/>
        </p:nvSpPr>
        <p:spPr>
          <a:xfrm>
            <a:off x="3474720" y="3072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I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023360" y="3035808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297680" y="3072384"/>
            <a:ext cx="274320" cy="2560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3" name="Text 101"/>
          <p:cNvSpPr/>
          <p:nvPr/>
        </p:nvSpPr>
        <p:spPr>
          <a:xfrm>
            <a:off x="4297680" y="3072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I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846320" y="303580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212080" y="3072384"/>
            <a:ext cx="274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6" name="Text 104"/>
          <p:cNvSpPr/>
          <p:nvPr/>
        </p:nvSpPr>
        <p:spPr>
          <a:xfrm>
            <a:off x="5212080" y="3072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852160" y="303580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217920" y="3072384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9" name="Text 107"/>
          <p:cNvSpPr/>
          <p:nvPr/>
        </p:nvSpPr>
        <p:spPr>
          <a:xfrm>
            <a:off x="6217920" y="3072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R/A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858000" y="3035808"/>
            <a:ext cx="10972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269480" y="3072384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2" name="Text 110"/>
          <p:cNvSpPr/>
          <p:nvPr/>
        </p:nvSpPr>
        <p:spPr>
          <a:xfrm>
            <a:off x="7269480" y="3072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74320" y="3383280"/>
            <a:ext cx="29260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4" name="Text 112"/>
          <p:cNvSpPr/>
          <p:nvPr/>
        </p:nvSpPr>
        <p:spPr>
          <a:xfrm>
            <a:off x="347472" y="3383280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Ведение журнала инцидентов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200400" y="3383280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474720" y="3419856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7" name="Text 115"/>
          <p:cNvSpPr/>
          <p:nvPr/>
        </p:nvSpPr>
        <p:spPr>
          <a:xfrm>
            <a:off x="3474720" y="3419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023360" y="3383280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297680" y="3419856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0" name="Text 118"/>
          <p:cNvSpPr/>
          <p:nvPr/>
        </p:nvSpPr>
        <p:spPr>
          <a:xfrm>
            <a:off x="4297680" y="3419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846320" y="3383280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212080" y="3419856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3" name="Text 121"/>
          <p:cNvSpPr/>
          <p:nvPr/>
        </p:nvSpPr>
        <p:spPr>
          <a:xfrm>
            <a:off x="5212080" y="3419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852160" y="3383280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217920" y="3419856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6" name="Text 124"/>
          <p:cNvSpPr/>
          <p:nvPr/>
        </p:nvSpPr>
        <p:spPr>
          <a:xfrm>
            <a:off x="6217920" y="3419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6858000" y="3383280"/>
            <a:ext cx="10972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269480" y="3419856"/>
            <a:ext cx="274320" cy="2560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9" name="Text 127"/>
          <p:cNvSpPr/>
          <p:nvPr/>
        </p:nvSpPr>
        <p:spPr>
          <a:xfrm>
            <a:off x="7269480" y="34198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I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74320" y="3730752"/>
            <a:ext cx="29260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347472" y="3730752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Обучение персонала регламентам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200400" y="3730752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474720" y="3767328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4" name="Text 132"/>
          <p:cNvSpPr/>
          <p:nvPr/>
        </p:nvSpPr>
        <p:spPr>
          <a:xfrm>
            <a:off x="347472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023360" y="3730752"/>
            <a:ext cx="8229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297680" y="3767328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7" name="Text 135"/>
          <p:cNvSpPr/>
          <p:nvPr/>
        </p:nvSpPr>
        <p:spPr>
          <a:xfrm>
            <a:off x="429768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4846320" y="373075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212080" y="3767328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0" name="Text 138"/>
          <p:cNvSpPr/>
          <p:nvPr/>
        </p:nvSpPr>
        <p:spPr>
          <a:xfrm>
            <a:off x="521208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5852160" y="373075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6217920" y="3767328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3" name="Text 141"/>
          <p:cNvSpPr/>
          <p:nvPr/>
        </p:nvSpPr>
        <p:spPr>
          <a:xfrm>
            <a:off x="621792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6858000" y="3730752"/>
            <a:ext cx="109728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269480" y="3767328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46" name="Text 144"/>
          <p:cNvSpPr/>
          <p:nvPr/>
        </p:nvSpPr>
        <p:spPr>
          <a:xfrm>
            <a:off x="726948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274320" y="4078224"/>
            <a:ext cx="29260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8" name="Text 146"/>
          <p:cNvSpPr/>
          <p:nvPr/>
        </p:nvSpPr>
        <p:spPr>
          <a:xfrm>
            <a:off x="347472" y="4078224"/>
            <a:ext cx="2834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B2D"/>
                </a:solidFill>
              </a:rPr>
              <a:t>Подготовка к запуску 140 киосков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3200400" y="4078224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0" name="Shape 148"/>
          <p:cNvSpPr/>
          <p:nvPr/>
        </p:nvSpPr>
        <p:spPr>
          <a:xfrm>
            <a:off x="3474720" y="4114800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1" name="Text 149"/>
          <p:cNvSpPr/>
          <p:nvPr/>
        </p:nvSpPr>
        <p:spPr>
          <a:xfrm>
            <a:off x="3474720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023360" y="4078224"/>
            <a:ext cx="8229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4297680" y="4114800"/>
            <a:ext cx="274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4" name="Text 152"/>
          <p:cNvSpPr/>
          <p:nvPr/>
        </p:nvSpPr>
        <p:spPr>
          <a:xfrm>
            <a:off x="4297680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4846320" y="4078224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6" name="Shape 154"/>
          <p:cNvSpPr/>
          <p:nvPr/>
        </p:nvSpPr>
        <p:spPr>
          <a:xfrm>
            <a:off x="5212080" y="4114800"/>
            <a:ext cx="2743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7" name="Text 155"/>
          <p:cNvSpPr/>
          <p:nvPr/>
        </p:nvSpPr>
        <p:spPr>
          <a:xfrm>
            <a:off x="5212080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5852160" y="4078224"/>
            <a:ext cx="100584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217920" y="4114800"/>
            <a:ext cx="274320" cy="2560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60" name="Text 158"/>
          <p:cNvSpPr/>
          <p:nvPr/>
        </p:nvSpPr>
        <p:spPr>
          <a:xfrm>
            <a:off x="6217920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858000" y="4078224"/>
            <a:ext cx="109728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2" name="Shape 160"/>
          <p:cNvSpPr/>
          <p:nvPr/>
        </p:nvSpPr>
        <p:spPr>
          <a:xfrm>
            <a:off x="7269480" y="4114800"/>
            <a:ext cx="274320" cy="256032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3" name="Text 161"/>
          <p:cNvSpPr/>
          <p:nvPr/>
        </p:nvSpPr>
        <p:spPr>
          <a:xfrm>
            <a:off x="7269480" y="4114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-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Требования к системе управления инцидентами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Единый журнал инцидентов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1848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Все инциденты фиксируются в одном инструменте. Обязательные поля: дата, ресторан, описание, исполнитель, статус, Root Cause.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1051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SLA по времени реакции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55448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61848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Критичный (влияет на выручку): реакция 15 мин, решение 2 часа. Высокий: 1 час / 8 часов. Средний: 4 часа / 24 часа.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1783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1051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Обязательный Root Cause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61848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Ни один инцидент не закрывается без указания корневой причины. Повторяющиеся причины → создание Problem Record.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724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Еженедельная отчётность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844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Отчёт по: открытым инцидентам, закрытым за неделю, TOP-5 причин, SLA compliance, трендам по ресторанам.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43200" cy="1783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70332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Процедура эскалации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52044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5844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Нерешённый инцидент &gt; 2ч → эскалация на ИТ IM. Нерешённый &gt; 4ч → генеральный директор уведомляется.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2926080"/>
            <a:ext cx="2743200" cy="1783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26080"/>
            <a:ext cx="2743200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017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2940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Чеклист для ККС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520440"/>
            <a:ext cx="25603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5844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До перезагрузки киоска: проверить все модули IIKO, зафиксировать статус. После перезагрузки — подтвердить полный старт.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— призыв к действию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До запуска 140 киосков необходимо навести порядок — иначе сбои IIKO остановят работу всей сети.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457200" cy="457200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Созвать встречу всех сторон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16459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9659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В течение 1 недели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IM, SYNAPP, ККС, Кафе Софт. Повестка: зоны ответственности + регламент.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41448"/>
            <a:ext cx="0" cy="201168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15768"/>
            <a:ext cx="457200" cy="457200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6700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Запустить Incident Log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2715768"/>
            <a:ext cx="16459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27157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До конца 2 недели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267004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Выбрать инструмент (Jira / Confluence / Excel). Назначить владельца журнала.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191256"/>
            <a:ext cx="0" cy="201168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465576"/>
            <a:ext cx="457200" cy="457200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41985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Провести аудит IIKO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3465576"/>
            <a:ext cx="16459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4655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До конца 3 недели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3419856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Кафе Софт + ИТ IM: детальный разбор 2 500 случаев сбоя. Найти Top-3 причины.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941064"/>
            <a:ext cx="0" cy="201168"/>
          </a:xfrm>
          <a:prstGeom prst="line">
            <a:avLst/>
          </a:prstGeom>
          <a:noFill/>
          <a:ln w="19050">
            <a:solidFill>
              <a:srgbClr val="1E5F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215384"/>
            <a:ext cx="457200" cy="457200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1696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Подписать регламент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26280" y="4215384"/>
            <a:ext cx="16459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2153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До конца 1 месяца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4169664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RACI-матрица, SLA, процедура эскалации. Подписи всех участников.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</a:rPr>
              <a:t>SYNAPP готова участвовать в построении прозрачной системы и защищать интересы бизнеса при запуске киосков.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925</Words>
  <Application>Microsoft Macintosh PowerPoint</Application>
  <PresentationFormat>Экран (16:9)</PresentationFormat>
  <Paragraphs>227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инцидентами — SYNAPP</dc:title>
  <dc:subject>PptxGenJS Presentation</dc:subject>
  <dc:creator>PptxGenJS</dc:creator>
  <cp:lastModifiedBy>Andrey Belov</cp:lastModifiedBy>
  <cp:revision>2</cp:revision>
  <dcterms:created xsi:type="dcterms:W3CDTF">2026-04-13T08:19:03Z</dcterms:created>
  <dcterms:modified xsi:type="dcterms:W3CDTF">2026-04-13T08:36:20Z</dcterms:modified>
</cp:coreProperties>
</file>